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2060"/>
                </a:solidFill>
              </a:defRPr>
            </a:pPr>
            <a:r>
              <a:t>SEO Audit Proposal</a:t>
            </a:r>
            <a:br/>
            <a:r>
              <a:t>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46464"/>
                </a:solidFill>
              </a:defRPr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SEO Audit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Comprehensive Analysis Framework</a:t>
            </a:r>
          </a:p>
          <a:p>
            <a:pPr lvl="1"/>
            <a:r>
              <a:t>Establishing your digital competitive position</a:t>
            </a:r>
          </a:p>
          <a:p>
            <a:pPr lvl="1"/>
            <a:r>
              <a:t>Identifying high-impact growth opportunities</a:t>
            </a:r>
          </a:p>
          <a:p>
            <a:pPr lvl="1"/>
            <a:r>
              <a:t>Translating technical signals into strategic actions</a:t>
            </a:r>
          </a:p>
          <a:p>
            <a:pPr lvl="1"/>
            <a:r>
              <a:t>Building the pathway to organic market leadership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Planning Phase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Strategic Audit — Before Implementation</a:t>
            </a:r>
          </a:p>
          <a:p>
            <a:pPr lvl="1"/>
            <a:r>
              <a:t>Discovery: Understanding current state and competitive landscape</a:t>
            </a:r>
          </a:p>
          <a:p>
            <a:pPr lvl="1"/>
            <a:r>
              <a:t>Analysis: Identifying critical gaps and opportunities</a:t>
            </a:r>
          </a:p>
          <a:p>
            <a:pPr lvl="1"/>
            <a:r>
              <a:t>Prioritization: Ranking initiatives by business impact</a:t>
            </a:r>
          </a:p>
          <a:p>
            <a:pPr lvl="1"/>
            <a:r>
              <a:t>Roadmap: Defining clear path from insight to execution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Executive Summary — The Headline Story</a:t>
            </a:r>
          </a:p>
          <a:p>
            <a:pPr>
              <a:defRPr sz="1800"/>
            </a:pPr>
            <a:r>
              <a:t>Current Position — Where You Stand Today</a:t>
            </a:r>
          </a:p>
          <a:p>
            <a:pPr>
              <a:defRPr sz="1800"/>
            </a:pPr>
            <a:r>
              <a:t>Content Gaps — Missed Opportunities</a:t>
            </a:r>
          </a:p>
          <a:p>
            <a:pPr>
              <a:defRPr sz="1800"/>
            </a:pPr>
            <a:r>
              <a:t>Technical Barriers — What's Blocking Growth</a:t>
            </a:r>
          </a:p>
          <a:p>
            <a:pPr>
              <a:defRPr sz="1800"/>
            </a:pPr>
            <a:r>
              <a:t>Authority Assessment — Competitive Weight</a:t>
            </a:r>
          </a:p>
          <a:p>
            <a:pPr>
              <a:defRPr sz="1800"/>
            </a:pPr>
            <a:r>
              <a:t>Action Plan — Path Forward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Path to Digital Visibility —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/>
            </a:pPr>
            <a:r>
              <a:t>**Strong Foundation with Optimization Opportunities**</a:t>
            </a:r>
            <a:br/>
            <a:br/>
            <a:r>
              <a:t>Site health at 75% demonstrates solid technical foundation. While 11 issues exist, the infrastructure supports organic growth initiatives.</a:t>
            </a:r>
            <a:br/>
            <a:br/>
            <a:r>
              <a:t>**Focus Area:** Shift attention to content optimization and authority building to maximize competitive positioning.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Where Client Stands Today?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Organic Traffic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1500"/>
              </a:spcAft>
              <a:defRPr sz="1400"/>
            </a:pPr>
            <a:r>
              <a:t>Organic traffic performance requires GA4 and SEMrush data for complete analysis. Current implementation focuses on technical foundation assessment.</a:t>
            </a:r>
          </a:p>
          <a:p>
            <a:pPr>
              <a:defRPr sz="1300" b="1"/>
            </a:pPr>
            <a:r>
              <a:t>📊 Recommended Data Sources:</a:t>
            </a:r>
          </a:p>
          <a:p>
            <a:pPr lvl="1">
              <a:defRPr sz="1200"/>
            </a:pPr>
            <a:r>
              <a:t>• GA4: Channel distribution (Organic vs. Direct vs. Paid)</a:t>
            </a:r>
          </a:p>
          <a:p>
            <a:pPr lvl="1">
              <a:defRPr sz="1200"/>
            </a:pPr>
            <a:r>
              <a:t>• GA4: Geographic sessions by country</a:t>
            </a:r>
          </a:p>
          <a:p>
            <a:pPr lvl="1">
              <a:defRPr sz="1200"/>
            </a:pPr>
            <a:r>
              <a:t>• SEMrush: Keyword position distribution (1-3, 4-10, 11-20, 21+)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Competitive 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1500"/>
              </a:spcAft>
              <a:defRPr sz="1400"/>
            </a:pPr>
            <a:r>
              <a:t>Competitive analysis requires multi-source data to establish market positioning across authority, traffic, and keyword performance metrics.</a:t>
            </a:r>
          </a:p>
          <a:p>
            <a:pPr>
              <a:defRPr sz="1300" b="1"/>
            </a:pPr>
            <a:r>
              <a:t>📊 Competitive Metrics Table:</a:t>
            </a:r>
          </a:p>
          <a:p>
            <a:pPr lvl="1">
              <a:defRPr sz="1100"/>
            </a:pPr>
            <a:r>
              <a:t>• Domain Rating (Ahrefs) - Authority comparison</a:t>
            </a:r>
          </a:p>
          <a:p>
            <a:pPr lvl="1">
              <a:defRPr sz="1100"/>
            </a:pPr>
            <a:r>
              <a:t>• Monthly Traffic (SEMrush) - Visibility gap analysis</a:t>
            </a:r>
          </a:p>
          <a:p>
            <a:pPr lvl="1">
              <a:defRPr sz="1100"/>
            </a:pPr>
            <a:r>
              <a:t>• Total Keywords - Content coverage comparison</a:t>
            </a:r>
          </a:p>
          <a:p>
            <a:pPr lvl="1">
              <a:defRPr sz="1100"/>
            </a:pPr>
            <a:r>
              <a:t>• Page 1 Keywords - Competitive SERP presence</a:t>
            </a:r>
          </a:p>
          <a:p>
            <a:pPr lvl="1">
              <a:defRPr sz="1100"/>
            </a:pPr>
            <a:r>
              <a:t>• Referring Domains - Link equity assessment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User Engagement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1500"/>
              </a:spcAft>
              <a:defRPr sz="1400" b="1"/>
            </a:pPr>
            <a:r>
              <a:t>Traffic volume means nothing if users don't engage. Engagement metrics reveal content-intent alignment and conversion potential.</a:t>
            </a:r>
          </a:p>
          <a:p>
            <a:pPr>
              <a:defRPr sz="1200" b="1">
                <a:solidFill>
                  <a:srgbClr val="646464"/>
                </a:solidFill>
              </a:defRPr>
            </a:pPr>
            <a:r>
              <a:t>GA4 ENGAGEMENT METRICS</a:t>
            </a:r>
          </a:p>
          <a:p>
            <a:pPr lvl="1">
              <a:defRPr sz="1200"/>
            </a:pPr>
            <a:r>
              <a:t>• Engagement Rate: % of sessions with meaningful interaction</a:t>
            </a:r>
          </a:p>
          <a:p>
            <a:pPr lvl="1">
              <a:defRPr sz="1200"/>
            </a:pPr>
            <a:r>
              <a:t>• Engaged Sessions: Sessions &gt;10s with 2+ pageviews or conversion</a:t>
            </a:r>
          </a:p>
          <a:p>
            <a:pPr lvl="1">
              <a:defRPr sz="1200"/>
            </a:pPr>
            <a:r>
              <a:t>• Avg Session Duration: Time spent on site</a:t>
            </a:r>
          </a:p>
          <a:p>
            <a:pPr>
              <a:spcAft>
                <a:spcPts val="1000"/>
              </a:spcAft>
            </a:pPr>
          </a:p>
          <a:p>
            <a:pPr>
              <a:defRPr sz="1100">
                <a:solidFill>
                  <a:srgbClr val="C83232"/>
                </a:solidFill>
              </a:defRPr>
            </a:pPr>
            <a:r>
              <a:t>⚠️ Benchmark: Engagement rate &gt;50% indicates quality traffic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Site Health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2000"/>
              </a:spcAft>
              <a:defRPr sz="1600" b="1"/>
            </a:pPr>
            <a:r>
              <a:t>Technical foundation is solid at 75% health score, allowing strategic focus on content and authority optimization.</a:t>
            </a:r>
          </a:p>
          <a:p>
            <a:pPr>
              <a:defRPr sz="1400"/>
            </a:pPr>
            <a:r>
              <a:t>Health Score: 75%</a:t>
            </a:r>
          </a:p>
          <a:p>
            <a:pPr>
              <a:defRPr sz="1400"/>
            </a:pPr>
            <a:r>
              <a:t>Pages Crawled: 10,000</a:t>
            </a:r>
          </a:p>
          <a:p>
            <a:pPr>
              <a:spcAft>
                <a:spcPts val="2000"/>
              </a:spcAft>
              <a:defRPr sz="1400"/>
            </a:pPr>
            <a:r>
              <a:t>Total Issues: 11</a:t>
            </a:r>
          </a:p>
          <a:p>
            <a:pPr>
              <a:defRPr sz="1200" b="1">
                <a:solidFill>
                  <a:srgbClr val="646464"/>
                </a:solidFill>
              </a:defRPr>
            </a:pPr>
            <a:r>
              <a:t>BUSINESS IMPACT</a:t>
            </a:r>
          </a:p>
          <a:p>
            <a:pPr>
              <a:defRPr sz="1400"/>
            </a:pPr>
            <a:r>
              <a:t>Strong technical foundation enables content and authority initiatives. Focus optimization efforts on high-value pages to maximize ROI.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You Stand -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SUMMARY &amp; ACTION PLAN</a:t>
            </a:r>
          </a:p>
          <a:p>
            <a:br/>
            <a:pPr>
              <a:defRPr sz="1200" b="1"/>
            </a:pPr>
            <a:r>
              <a:t>📋 What is the Issue?</a:t>
            </a:r>
          </a:p>
          <a:p>
            <a:pPr lvl="1">
              <a:defRPr sz="1100"/>
            </a:pPr>
            <a:r>
              <a:t>• Site health at 75% indicates technical foundation gaps</a:t>
            </a:r>
          </a:p>
          <a:p>
            <a:br/>
            <a:pPr>
              <a:defRPr sz="1200" b="1"/>
            </a:pPr>
            <a:r>
              <a:t>💥 What is the Impact?</a:t>
            </a:r>
          </a:p>
          <a:p>
            <a:pPr lvl="1">
              <a:defRPr sz="1100"/>
            </a:pPr>
            <a:r>
              <a:t>• Google's crawl efficiency compromised, limiting indexation of valuable pages</a:t>
            </a:r>
          </a:p>
          <a:p>
            <a:br/>
            <a:pPr>
              <a:defRPr sz="1200" b="1"/>
            </a:pPr>
            <a:r>
              <a:t>🎯 Our Next Action</a:t>
            </a:r>
          </a:p>
          <a:p>
            <a:pPr lvl="1">
              <a:defRPr sz="1100"/>
            </a:pPr>
            <a:r>
              <a:t>• Prioritize technical remediation to establish crawlability foundation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Content Visibility Gaps &amp; Insights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Meta Tags &amp; Content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2000"/>
              </a:spcAft>
              <a:defRPr sz="1600" b="1"/>
            </a:pPr>
            <a:r>
              <a:t>261 pages lack optimized meta signals, leaving snippet generation to Google and reducing click-through control.</a:t>
            </a:r>
          </a:p>
          <a:p>
            <a:pPr>
              <a:defRPr sz="1200" b="1">
                <a:solidFill>
                  <a:srgbClr val="646464"/>
                </a:solidFill>
              </a:defRPr>
            </a:pPr>
            <a:r>
              <a:t>CRITICAL META ISSUES</a:t>
            </a:r>
          </a:p>
          <a:p>
            <a:pPr lvl="1">
              <a:defRPr sz="1300"/>
            </a:pPr>
            <a:r>
              <a:t>• Duplicate H1: 257 pages</a:t>
            </a:r>
          </a:p>
          <a:p>
            <a:pPr lvl="1">
              <a:defRPr sz="1300"/>
            </a:pPr>
            <a:r>
              <a:t>• duplicate meta descriptions: 2 pages</a:t>
            </a:r>
          </a:p>
          <a:p>
            <a:pPr lvl="1">
              <a:defRPr sz="1300"/>
            </a:pPr>
            <a:r>
              <a:t>• Pages have duplicate meta: 2 pages</a:t>
            </a:r>
          </a:p>
          <a:p>
            <a:pPr lvl="1">
              <a:defRPr sz="1300"/>
            </a:pPr>
            <a:r>
              <a:t>• Duplicate title: 0 pages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Keyword Gap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1500"/>
              </a:spcAft>
              <a:defRPr sz="1400" b="1"/>
            </a:pPr>
            <a:r>
              <a:t>Keyword gap analysis reveals **uncaptured demand** flowing to competitors. Every missing keyword represents market share left on the table.</a:t>
            </a:r>
          </a:p>
          <a:p>
            <a:pPr>
              <a:defRPr sz="1200" b="1">
                <a:solidFill>
                  <a:srgbClr val="646464"/>
                </a:solidFill>
              </a:defRPr>
            </a:pPr>
            <a:r>
              <a:t>🎯 KEYWORD GAP OPPORTUNITY</a:t>
            </a:r>
          </a:p>
          <a:p>
            <a:pPr>
              <a:defRPr sz="1100"/>
            </a:pPr>
            <a:r>
              <a:t>Requires SEMrush Keyword Gap export showing:</a:t>
            </a:r>
          </a:p>
          <a:p>
            <a:pPr lvl="1">
              <a:defRPr sz="1100"/>
            </a:pPr>
            <a:r>
              <a:t>• Missing keywords (competitors rank, you don't)</a:t>
            </a:r>
          </a:p>
          <a:p>
            <a:pPr lvl="1">
              <a:defRPr sz="1100"/>
            </a:pPr>
            <a:r>
              <a:t>• Search volume per keyword</a:t>
            </a:r>
          </a:p>
          <a:p>
            <a:pPr lvl="1">
              <a:defRPr sz="1100"/>
            </a:pPr>
            <a:r>
              <a:t>• Keyword difficulty score</a:t>
            </a:r>
          </a:p>
          <a:p>
            <a:pPr lvl="1">
              <a:defRPr sz="1100"/>
            </a:pPr>
            <a:r>
              <a:t>• Which competitors own each keyword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Keyword Portfolio by Intent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1500"/>
              </a:spcAft>
              <a:defRPr sz="1400"/>
            </a:pPr>
            <a:r>
              <a:t>Intent distribution reveals funnel coverage. Behavioral keywords drive awareness, Device &amp; Utility keywords capture purchase intent.</a:t>
            </a:r>
          </a:p>
          <a:p>
            <a:pPr>
              <a:defRPr sz="1200" b="1">
                <a:solidFill>
                  <a:srgbClr val="646464"/>
                </a:solidFill>
              </a:defRPr>
            </a:pPr>
            <a:r>
              <a:t>📊 KEYWORD CATEGORY BREAKDOWN</a:t>
            </a:r>
          </a:p>
          <a:p>
            <a:pPr lvl="1">
              <a:defRPr sz="1100"/>
            </a:pPr>
            <a:r>
              <a:t>• Behavioral: How-to, guides, benefits → Awareness stage</a:t>
            </a:r>
          </a:p>
          <a:p>
            <a:pPr lvl="1">
              <a:defRPr sz="1100"/>
            </a:pPr>
            <a:r>
              <a:t>• Device &amp; Utility: Best, top, comparisons → Consideration stage</a:t>
            </a:r>
          </a:p>
          <a:p>
            <a:pPr lvl="1">
              <a:defRPr sz="1100"/>
            </a:pPr>
            <a:r>
              <a:t>• Brand: Brand + reviews, coupons → Decision stage</a:t>
            </a:r>
          </a:p>
          <a:p>
            <a:pPr lvl="1">
              <a:defRPr sz="1100"/>
            </a:pPr>
            <a:r>
              <a:t>• Location: Geo-modified terms → Local targeting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Gaps -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SUMMARY &amp; ACTION PLAN</a:t>
            </a:r>
          </a:p>
          <a:p>
            <a:br/>
            <a:pPr>
              <a:defRPr sz="1200" b="1"/>
            </a:pPr>
            <a:r>
              <a:t>📋 What is the Issue?</a:t>
            </a:r>
          </a:p>
          <a:p>
            <a:pPr lvl="1">
              <a:defRPr sz="1100"/>
            </a:pPr>
            <a:r>
              <a:t>• Meta optimization gaps across 261 pages suppress visibility</a:t>
            </a:r>
          </a:p>
          <a:p>
            <a:br/>
            <a:pPr>
              <a:defRPr sz="1200" b="1"/>
            </a:pPr>
            <a:r>
              <a:t>💥 What is the Impact?</a:t>
            </a:r>
          </a:p>
          <a:p>
            <a:pPr lvl="1">
              <a:defRPr sz="1100"/>
            </a:pPr>
            <a:r>
              <a:t>• Pages compete against themselves, fragmenting authority and CTR</a:t>
            </a:r>
          </a:p>
          <a:p>
            <a:br/>
            <a:pPr>
              <a:defRPr sz="1200" b="1"/>
            </a:pPr>
            <a:r>
              <a:t>🎯 Our Next Action</a:t>
            </a:r>
          </a:p>
          <a:p>
            <a:pPr lvl="1">
              <a:defRPr sz="1100"/>
            </a:pPr>
            <a:r>
              <a:t>• Deploy unique meta tags prioritizing revenue-generating pages first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Technical Gaps Limiting Growth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Barriers to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2000"/>
              </a:spcAft>
              <a:defRPr sz="1500" b="1"/>
            </a:pPr>
            <a:r>
              <a:t>**660 instances** are fragmenting site quality signals</a:t>
            </a:r>
          </a:p>
          <a:p>
            <a:pPr>
              <a:defRPr sz="1200" b="1">
                <a:solidFill>
                  <a:srgbClr val="646464"/>
                </a:solidFill>
              </a:defRPr>
            </a:pPr>
            <a:r>
              <a:t>CRITICAL TECHNICAL ISSUES</a:t>
            </a:r>
          </a:p>
          <a:p>
            <a:pPr lvl="1">
              <a:defRPr sz="1200"/>
            </a:pPr>
            <a:r>
              <a:t>• uncached JavaScript detected across site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660 instances | Action: Prioritize remediation based on page value and traffic potential</a:t>
            </a:r>
          </a:p>
          <a:p>
            <a:pPr lvl="1">
              <a:defRPr sz="1200"/>
            </a:pPr>
            <a:r>
              <a:t>• Content depth insufficient for topical authority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277 instances | Action: Expand content depth on high-opportunity pages to establish expertise</a:t>
            </a:r>
          </a:p>
          <a:p>
            <a:pPr lvl="1">
              <a:defRPr sz="1200"/>
            </a:pPr>
            <a:r>
              <a:t>• URL architecture unstable with temporary redirect chains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235 instances | Action: Convert temporary (302) to permanent (301) redirects immediately</a:t>
            </a:r>
          </a:p>
          <a:p>
            <a:pPr lvl="1">
              <a:defRPr sz="1200"/>
            </a:pPr>
            <a:r>
              <a:t>• Critical link architecture failures creating navigation blind spots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53 instances | Action: Implement systematic link audit and remediation protocol</a:t>
            </a:r>
          </a:p>
          <a:p>
            <a:pPr lvl="1">
              <a:defRPr sz="1200"/>
            </a:pPr>
            <a:r>
              <a:t>• International targeting signals conflicting across markets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17 instances | Action: Audit and correct hreflang implementation across all markets</a:t>
            </a:r>
          </a:p>
          <a:p>
            <a:pPr lvl="1">
              <a:defRPr sz="1200"/>
            </a:pPr>
            <a:r>
              <a:t>• Pages returning error states to search engines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7 instances | Action: Restore indexability for high-value pages within 48 hours</a:t>
            </a:r>
          </a:p>
          <a:p>
            <a:pPr lvl="1">
              <a:defRPr sz="1200"/>
            </a:pPr>
            <a:r>
              <a:t>• Pages returned 4XX detected across site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7 instances | Action: Prioritize remediation based on page value and traffic potential</a:t>
            </a:r>
          </a:p>
          <a:p>
            <a:pPr lvl="1">
              <a:defRPr sz="1200"/>
            </a:pPr>
            <a:r>
              <a:t>• Security certificate expired or expiring soon</a:t>
            </a:r>
          </a:p>
          <a:p>
            <a:pPr lvl="2">
              <a:defRPr sz="1000">
                <a:solidFill>
                  <a:srgbClr val="505050"/>
                </a:solidFill>
              </a:defRPr>
            </a:pPr>
            <a:r>
              <a:t>  → 0 instances | Action: Renew SSL certificate immediately and implement auto-renewal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Gaps -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SUMMARY &amp; ACTION PLAN</a:t>
            </a:r>
          </a:p>
          <a:p>
            <a:br/>
            <a:pPr>
              <a:defRPr sz="1200" b="1"/>
            </a:pPr>
            <a:r>
              <a:t>📋 What is the Issue?</a:t>
            </a:r>
          </a:p>
          <a:p>
            <a:pPr lvl="1">
              <a:defRPr sz="1100"/>
            </a:pPr>
            <a:r>
              <a:t>• 8 technical barriers block crawler access and indexation</a:t>
            </a:r>
          </a:p>
          <a:p>
            <a:br/>
            <a:pPr>
              <a:defRPr sz="1200" b="1"/>
            </a:pPr>
            <a:r>
              <a:t>💥 What is the Impact?</a:t>
            </a:r>
          </a:p>
          <a:p>
            <a:pPr lvl="1">
              <a:defRPr sz="1100"/>
            </a:pPr>
            <a:r>
              <a:t>• Content investments invisible to search engines, zero ROI on development</a:t>
            </a:r>
          </a:p>
          <a:p>
            <a:br/>
            <a:pPr>
              <a:defRPr sz="1200" b="1"/>
            </a:pPr>
            <a:r>
              <a:t>🎯 Our Next Action</a:t>
            </a:r>
          </a:p>
          <a:p>
            <a:pPr lvl="1">
              <a:defRPr sz="1100"/>
            </a:pPr>
            <a:r>
              <a:t>• Address critical crawlability and indexability issues within 48 hours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Understanding Domain Authority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 Authority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KEY INSIGHT</a:t>
            </a:r>
          </a:p>
          <a:p>
            <a:pPr>
              <a:spcAft>
                <a:spcPts val="1500"/>
              </a:spcAft>
              <a:defRPr sz="1400" b="1"/>
            </a:pPr>
            <a:r>
              <a:t>Domain authority determines ranking ceiling. Low authority = can't compete for valuable keywords, even with perfect content.</a:t>
            </a:r>
          </a:p>
          <a:p>
            <a:pPr>
              <a:defRPr sz="1200" b="1">
                <a:solidFill>
                  <a:srgbClr val="646464"/>
                </a:solidFill>
              </a:defRPr>
            </a:pPr>
            <a:r>
              <a:t>🔗 AUTHORITY METRICS (Ahrefs)</a:t>
            </a:r>
          </a:p>
          <a:p>
            <a:pPr lvl="1">
              <a:defRPr sz="1100"/>
            </a:pPr>
            <a:r>
              <a:t>• Domain Rating (DR): 0-100 authority score</a:t>
            </a:r>
          </a:p>
          <a:p>
            <a:pPr lvl="1">
              <a:defRPr sz="1100"/>
            </a:pPr>
            <a:r>
              <a:t>• Referring Domains: Unique sites linking to you</a:t>
            </a:r>
          </a:p>
          <a:p>
            <a:pPr lvl="1">
              <a:defRPr sz="1100"/>
            </a:pPr>
            <a:r>
              <a:t>• DR Trend: Growing/stable/declining over 6 months</a:t>
            </a:r>
          </a:p>
          <a:p>
            <a:pPr lvl="1">
              <a:defRPr sz="1100"/>
            </a:pPr>
            <a:r>
              <a:t>• Competitor Gap: How far behind/ahead of competition</a:t>
            </a:r>
          </a:p>
          <a:p>
            <a:pPr>
              <a:spcAft>
                <a:spcPts val="1000"/>
              </a:spcAft>
            </a:pPr>
          </a:p>
          <a:p>
            <a:pPr>
              <a:defRPr sz="1100">
                <a:solidFill>
                  <a:srgbClr val="C83232"/>
                </a:solidFill>
              </a:defRPr>
            </a:pPr>
            <a:r>
              <a:t>⚠️ DR &lt;40 = Can only compete for low-difficulty keywords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 Authority -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SUMMARY &amp; ACTION PLAN</a:t>
            </a:r>
          </a:p>
          <a:p>
            <a:br/>
            <a:pPr>
              <a:defRPr sz="1200" b="1"/>
            </a:pPr>
            <a:r>
              <a:t>📋 What is the Issue?</a:t>
            </a:r>
          </a:p>
          <a:p>
            <a:pPr lvl="1">
              <a:defRPr sz="1100"/>
            </a:pPr>
            <a:r>
              <a:t>• Domain authority gap limits competitive positioning on high-value terms</a:t>
            </a:r>
          </a:p>
          <a:p>
            <a:br/>
            <a:pPr>
              <a:defRPr sz="1200" b="1"/>
            </a:pPr>
            <a:r>
              <a:t>💥 What is the Impact?</a:t>
            </a:r>
          </a:p>
          <a:p>
            <a:pPr lvl="1">
              <a:defRPr sz="1100"/>
            </a:pPr>
            <a:r>
              <a:t>• Even optimized content won't rank without authority foundation</a:t>
            </a:r>
          </a:p>
          <a:p>
            <a:br/>
            <a:pPr>
              <a:defRPr sz="1200" b="1"/>
            </a:pPr>
            <a:r>
              <a:t>🎯 Our Next Action</a:t>
            </a:r>
          </a:p>
          <a:p>
            <a:pPr lvl="1">
              <a:defRPr sz="1100"/>
            </a:pPr>
            <a:r>
              <a:t>• Launch strategic link acquisition targeting high-DR industry publications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2060"/>
                </a:solidFill>
              </a:defRPr>
            </a:pPr>
            <a:r>
              <a:t>Steps to Improve Your SEO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Action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46464"/>
                </a:solidFill>
              </a:defRPr>
            </a:pPr>
            <a:r>
              <a:t>NEXT ACTION KEY MESSAGE</a:t>
            </a:r>
          </a:p>
          <a:p>
            <a:pPr>
              <a:spcAft>
                <a:spcPts val="2000"/>
              </a:spcAft>
              <a:defRPr sz="1600" b="1"/>
            </a:pPr>
            <a:r>
              <a:t>Leverage strong technical foundation to focus on content depth and authority building initiatives.</a:t>
            </a:r>
          </a:p>
          <a:p>
            <a:pPr>
              <a:defRPr sz="1300" b="1">
                <a:solidFill>
                  <a:srgbClr val="9C27B0"/>
                </a:solidFill>
              </a:defRPr>
            </a:pPr>
            <a:r>
              <a:t>TECHNICAL SEO</a:t>
            </a:r>
          </a:p>
          <a:p>
            <a:pPr lvl="1">
              <a:defRPr sz="1100"/>
            </a:pPr>
            <a:r>
              <a:t>• Issue: uncached JavaScript detected across site</a:t>
            </a:r>
          </a:p>
          <a:p>
            <a:pPr lvl="1">
              <a:defRPr sz="1100"/>
            </a:pPr>
            <a:r>
              <a:t>• Action: Prioritize remediation based on page value and traffic potential</a:t>
            </a:r>
          </a:p>
          <a:p>
            <a:pPr>
              <a:spcAft>
                <a:spcPts val="1000"/>
              </a:spcAft>
            </a:pPr>
          </a:p>
          <a:p>
            <a:pPr>
              <a:defRPr sz="1300" b="1">
                <a:solidFill>
                  <a:srgbClr val="9C27B0"/>
                </a:solidFill>
              </a:defRPr>
            </a:pPr>
            <a:r>
              <a:t>CONTENT SEO</a:t>
            </a:r>
          </a:p>
          <a:p>
            <a:pPr lvl="1">
              <a:defRPr sz="1100"/>
            </a:pPr>
            <a:r>
              <a:t>• Issue: Duplicate H1 affecting 257 pages</a:t>
            </a:r>
          </a:p>
          <a:p>
            <a:pPr lvl="1">
              <a:defRPr sz="1100"/>
            </a:pPr>
            <a:r>
              <a:t>• Action: Deploy unique meta descriptions prioritizing high-value pages</a:t>
            </a:r>
          </a:p>
          <a:p>
            <a:pPr>
              <a:spcAft>
                <a:spcPts val="1000"/>
              </a:spcAft>
            </a:pPr>
          </a:p>
          <a:p>
            <a:pPr>
              <a:defRPr sz="1300" b="1">
                <a:solidFill>
                  <a:srgbClr val="9C27B0"/>
                </a:solidFill>
              </a:defRPr>
            </a:pPr>
            <a:r>
              <a:t>DOMAIN AUTHORITY</a:t>
            </a:r>
          </a:p>
          <a:p>
            <a:pPr lvl="1">
              <a:defRPr sz="1100"/>
            </a:pPr>
            <a:r>
              <a:t>• Focus: Build topical authority through strategic content and link acquisition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KPI Targets &amp; 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SUCCESS METRICS</a:t>
            </a:r>
          </a:p>
          <a:p>
            <a:pPr>
              <a:spcAft>
                <a:spcPts val="1000"/>
              </a:spcAft>
            </a:pPr>
          </a:p>
          <a:p>
            <a:pPr>
              <a:defRPr sz="1200" b="1"/>
            </a:pPr>
            <a:r>
              <a:t>📊 ORGANIC TRAFFIC CTR</a:t>
            </a:r>
          </a:p>
          <a:p>
            <a:pPr lvl="1">
              <a:defRPr sz="1100"/>
            </a:pPr>
            <a:r>
              <a:t>• Current: Requires GSC data export</a:t>
            </a:r>
          </a:p>
          <a:p>
            <a:pPr lvl="1">
              <a:defRPr sz="1100"/>
            </a:pPr>
            <a:r>
              <a:t>• Target: +1% improvement</a:t>
            </a:r>
          </a:p>
          <a:p>
            <a:pPr lvl="1">
              <a:defRPr sz="1100"/>
            </a:pPr>
            <a:r>
              <a:t>• Industry Benchmark: 3-5% average</a:t>
            </a:r>
          </a:p>
          <a:p>
            <a:pPr>
              <a:spcAft>
                <a:spcPts val="1000"/>
              </a:spcAft>
            </a:pPr>
          </a:p>
          <a:p>
            <a:pPr>
              <a:defRPr sz="1200" b="1"/>
            </a:pPr>
            <a:r>
              <a:t>📈 RANKING POSITION</a:t>
            </a:r>
          </a:p>
          <a:p>
            <a:pPr lvl="1">
              <a:defRPr sz="1100"/>
            </a:pPr>
            <a:r>
              <a:t>• Current: Requires SEMrush keyword position data</a:t>
            </a:r>
          </a:p>
          <a:p>
            <a:pPr lvl="1">
              <a:defRPr sz="1100"/>
            </a:pPr>
            <a:r>
              <a:t>• Target: 10-50% improvement on target keywords</a:t>
            </a:r>
          </a:p>
          <a:p>
            <a:pPr>
              <a:spcAft>
                <a:spcPts val="1000"/>
              </a:spcAft>
            </a:pPr>
          </a:p>
          <a:p>
            <a:pPr>
              <a:defRPr sz="1200" b="1"/>
            </a:pPr>
            <a:r>
              <a:t>🎯 ORGANIC SESSIONS</a:t>
            </a:r>
          </a:p>
          <a:p>
            <a:pPr lvl="1">
              <a:defRPr sz="1100"/>
            </a:pPr>
            <a:r>
              <a:t>• Current: Requires GA4 organic session count</a:t>
            </a:r>
          </a:p>
          <a:p>
            <a:pPr lvl="1">
              <a:defRPr sz="1100"/>
            </a:pPr>
            <a:r>
              <a:t>• Target: +15% growth within 6 months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2060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114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Ready to transform your organic visibility into competitive advantage.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
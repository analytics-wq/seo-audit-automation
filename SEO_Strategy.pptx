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2060"/>
                </a:solidFill>
              </a:defRPr>
            </a:pPr>
            <a:r>
              <a:t>SEO Audit Proposal</a:t>
            </a:r>
            <a:br/>
            <a:r>
              <a:t>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SEO Audit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Comprehensive Analysis Framework</a:t>
            </a:r>
          </a:p>
          <a:p>
            <a:pPr lvl="1"/>
            <a:r>
              <a:t>Establishing your digital competitive position</a:t>
            </a:r>
          </a:p>
          <a:p>
            <a:pPr lvl="1"/>
            <a:r>
              <a:t>Identifying high-impact growth opportunities</a:t>
            </a:r>
          </a:p>
          <a:p>
            <a:pPr lvl="1"/>
            <a:r>
              <a:t>Translating technical signals into strategic actions</a:t>
            </a:r>
          </a:p>
          <a:p>
            <a:pPr lvl="1"/>
            <a:r>
              <a:t>Building the pathway to organic market leadership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Strategic Audit — Before Implementation</a:t>
            </a:r>
          </a:p>
          <a:p>
            <a:pPr lvl="1"/>
            <a:r>
              <a:t>Discovery: Understanding current state and competitive landscape</a:t>
            </a:r>
          </a:p>
          <a:p>
            <a:pPr lvl="1"/>
            <a:r>
              <a:t>Analysis: Identifying critical gaps and opportunities</a:t>
            </a:r>
          </a:p>
          <a:p>
            <a:pPr lvl="1"/>
            <a:r>
              <a:t>Prioritization: Ranking initiatives by business impact</a:t>
            </a:r>
          </a:p>
          <a:p>
            <a:pPr lvl="1"/>
            <a:r>
              <a:t>Roadmap: Defining clear path from insight to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Executive Summary — The Headline Story</a:t>
            </a:r>
          </a:p>
          <a:p>
            <a:pPr>
              <a:defRPr sz="1800"/>
            </a:pPr>
            <a:r>
              <a:t>Current Position — Where You Stand Today</a:t>
            </a:r>
          </a:p>
          <a:p>
            <a:pPr>
              <a:defRPr sz="1800"/>
            </a:pPr>
            <a:r>
              <a:t>Content Gaps — Missed Opportunities</a:t>
            </a:r>
          </a:p>
          <a:p>
            <a:pPr>
              <a:defRPr sz="1800"/>
            </a:pPr>
            <a:r>
              <a:t>Technical Barriers — What's Blocking Growth</a:t>
            </a:r>
          </a:p>
          <a:p>
            <a:pPr>
              <a:defRPr sz="1800"/>
            </a:pPr>
            <a:r>
              <a:t>Authority Assessment — Competitive Weight</a:t>
            </a:r>
          </a:p>
          <a:p>
            <a:pPr>
              <a:defRPr sz="1800"/>
            </a:pPr>
            <a:r>
              <a:t>Action Plan — Path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to Digital Visibility —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**Strong Foundation with Optimization Opportunities**</a:t>
            </a:r>
            <a:br/>
            <a:br/>
            <a:r>
              <a:t>Site health at 75% demonstrates solid technical foundation. While 11 issues exist, the infrastructure supports organic growth initiatives.</a:t>
            </a:r>
            <a:br/>
            <a:br/>
            <a:r>
              <a:t>**Focus Area:** Shift attention to content optimization and authority building to maximize competitive positioning.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Where Your Brand Stands Today?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Health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Aft>
                <a:spcPts val="2000"/>
              </a:spcAft>
              <a:defRPr sz="1600" b="1"/>
            </a:pPr>
            <a:r>
              <a:t>Technical foundation is solid at 75% health score, allowing strategic focus on content and authority optimization.</a:t>
            </a:r>
          </a:p>
          <a:p>
            <a:pPr>
              <a:defRPr sz="1400"/>
            </a:pPr>
            <a:r>
              <a:t>Health Score: 75%</a:t>
            </a:r>
          </a:p>
          <a:p>
            <a:pPr>
              <a:defRPr sz="1400"/>
            </a:pPr>
            <a:r>
              <a:t>Pages Crawled: 10,000</a:t>
            </a:r>
          </a:p>
          <a:p>
            <a:pPr>
              <a:spcAft>
                <a:spcPts val="2000"/>
              </a:spcAft>
              <a:defRPr sz="1400"/>
            </a:pPr>
            <a:r>
              <a:t>Total Issues: 11</a:t>
            </a:r>
          </a:p>
          <a:p>
            <a:pPr>
              <a:defRPr sz="1200" b="1">
                <a:solidFill>
                  <a:srgbClr val="646464"/>
                </a:solidFill>
              </a:defRPr>
            </a:pPr>
            <a:r>
              <a:t>BUSINESS IMPACT</a:t>
            </a:r>
          </a:p>
          <a:p>
            <a:pPr>
              <a:defRPr sz="1400"/>
            </a:pPr>
            <a:r>
              <a:t>Strong technical foundation enables content and authority initiatives. Focus optimization efforts on high-value pages to maximize ROI.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Content Visibility Gaps &amp;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 Tags &amp; Content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Aft>
                <a:spcPts val="2000"/>
              </a:spcAft>
              <a:defRPr sz="1600" b="1"/>
            </a:pPr>
            <a:r>
              <a:t>261 pages lack optimized meta signals, leaving snippet generation to Google and reducing click-through control.</a:t>
            </a:r>
          </a:p>
          <a:p>
            <a:pPr>
              <a:defRPr sz="1200" b="1">
                <a:solidFill>
                  <a:srgbClr val="646464"/>
                </a:solidFill>
              </a:defRPr>
            </a:pPr>
            <a:r>
              <a:t>CRITICAL META ISSUES</a:t>
            </a:r>
          </a:p>
          <a:p>
            <a:pPr lvl="1">
              <a:defRPr sz="1300"/>
            </a:pPr>
            <a:r>
              <a:t>• Duplicate H1: 257 pages</a:t>
            </a:r>
          </a:p>
          <a:p>
            <a:pPr lvl="1">
              <a:defRPr sz="1300"/>
            </a:pPr>
            <a:r>
              <a:t>• duplicate meta descriptions: 2 pages</a:t>
            </a:r>
          </a:p>
          <a:p>
            <a:pPr lvl="1">
              <a:defRPr sz="1300"/>
            </a:pPr>
            <a:r>
              <a:t>• Pages have duplicate meta: 2 pages</a:t>
            </a:r>
          </a:p>
          <a:p>
            <a:pPr lvl="1">
              <a:defRPr sz="1300"/>
            </a:pPr>
            <a:r>
              <a:t>• Duplicate title: 0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Technical Gaps Limiting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Barriers to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Aft>
                <a:spcPts val="2000"/>
              </a:spcAft>
              <a:defRPr sz="1500" b="1"/>
            </a:pPr>
            <a:r>
              <a:t>**660 instances** are fragmenting site quality signals</a:t>
            </a:r>
          </a:p>
          <a:p>
            <a:pPr>
              <a:defRPr sz="1200" b="1">
                <a:solidFill>
                  <a:srgbClr val="646464"/>
                </a:solidFill>
              </a:defRPr>
            </a:pPr>
            <a:r>
              <a:t>CRITICAL TECHNICAL ISSUES</a:t>
            </a:r>
          </a:p>
          <a:p>
            <a:pPr lvl="1">
              <a:defRPr sz="1200"/>
            </a:pPr>
            <a:r>
              <a:t>• uncached JavaScript detected across site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660 instances | Action: Prioritize remediation based on page value and traffic potential</a:t>
            </a:r>
          </a:p>
          <a:p>
            <a:pPr lvl="1">
              <a:defRPr sz="1200"/>
            </a:pPr>
            <a:r>
              <a:t>• Content depth insufficient for topical authority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277 instances | Action: Expand content depth on high-opportunity pages to establish expertise</a:t>
            </a:r>
          </a:p>
          <a:p>
            <a:pPr lvl="1">
              <a:defRPr sz="1200"/>
            </a:pPr>
            <a:r>
              <a:t>• URL architecture unstable with temporary redirect chains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235 instances | Action: Convert temporary (302) to permanent (301) redirects immediately</a:t>
            </a:r>
          </a:p>
          <a:p>
            <a:pPr lvl="1">
              <a:defRPr sz="1200"/>
            </a:pPr>
            <a:r>
              <a:t>• Critical link architecture failures creating navigation blind spots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53 instances | Action: Implement systematic link audit and remediation protocol</a:t>
            </a:r>
          </a:p>
          <a:p>
            <a:pPr lvl="1">
              <a:defRPr sz="1200"/>
            </a:pPr>
            <a:r>
              <a:t>• International targeting signals conflicting across markets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17 instances | Action: Audit and correct hreflang implementation across all markets</a:t>
            </a:r>
          </a:p>
          <a:p>
            <a:pPr lvl="1">
              <a:defRPr sz="1200"/>
            </a:pPr>
            <a:r>
              <a:t>• Pages returning error states to search engines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7 instances | Action: Restore indexability for high-value pages within 48 hours</a:t>
            </a:r>
          </a:p>
          <a:p>
            <a:pPr lvl="1">
              <a:defRPr sz="1200"/>
            </a:pPr>
            <a:r>
              <a:t>• Pages returned 4XX detected across site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7 instances | Action: Prioritize remediation based on page value and traffic potential</a:t>
            </a:r>
          </a:p>
          <a:p>
            <a:pPr lvl="1">
              <a:defRPr sz="1200"/>
            </a:pPr>
            <a:r>
              <a:t>• Security certificate expired or expiring soon</a:t>
            </a:r>
          </a:p>
          <a:p>
            <a:pPr lvl="2">
              <a:defRPr sz="1000">
                <a:solidFill>
                  <a:srgbClr val="505050"/>
                </a:solidFill>
              </a:defRPr>
            </a:pPr>
            <a:r>
              <a:t>  → 0 instances | Action: Renew SSL certificate immediately and implement auto-renewal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Steps to Improve Your SEO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6464"/>
                </a:solidFill>
              </a:defRPr>
            </a:pPr>
            <a:r>
              <a:t>NEXT ACTION KEY MESSAGE</a:t>
            </a:r>
          </a:p>
          <a:p>
            <a:pPr>
              <a:spcAft>
                <a:spcPts val="2000"/>
              </a:spcAft>
              <a:defRPr sz="1600" b="1"/>
            </a:pPr>
            <a:r>
              <a:t>Leverage strong technical foundation to focus on content depth and authority building initiatives.</a:t>
            </a:r>
          </a:p>
          <a:p>
            <a:pPr>
              <a:defRPr sz="1300" b="1">
                <a:solidFill>
                  <a:srgbClr val="9C27B0"/>
                </a:solidFill>
              </a:defRPr>
            </a:pPr>
            <a:r>
              <a:t>TECHNICAL SEO</a:t>
            </a:r>
          </a:p>
          <a:p>
            <a:pPr lvl="1">
              <a:defRPr sz="1100"/>
            </a:pPr>
            <a:r>
              <a:t>• Issue: uncached JavaScript detected across site</a:t>
            </a:r>
          </a:p>
          <a:p>
            <a:pPr lvl="1">
              <a:defRPr sz="1100"/>
            </a:pPr>
            <a:r>
              <a:t>• Action: Prioritize remediation based on page value and traffic potential</a:t>
            </a:r>
          </a:p>
          <a:p>
            <a:pPr>
              <a:spcAft>
                <a:spcPts val="1000"/>
              </a:spcAft>
            </a:pPr>
          </a:p>
          <a:p>
            <a:pPr>
              <a:defRPr sz="1300" b="1">
                <a:solidFill>
                  <a:srgbClr val="9C27B0"/>
                </a:solidFill>
              </a:defRPr>
            </a:pPr>
            <a:r>
              <a:t>CONTENT SEO</a:t>
            </a:r>
          </a:p>
          <a:p>
            <a:pPr lvl="1">
              <a:defRPr sz="1100"/>
            </a:pPr>
            <a:r>
              <a:t>• Issue: Duplicate H1 affecting 257 pages</a:t>
            </a:r>
          </a:p>
          <a:p>
            <a:pPr lvl="1">
              <a:defRPr sz="1100"/>
            </a:pPr>
            <a:r>
              <a:t>• Action: Deploy unique meta descriptions prioritizing high-value pages</a:t>
            </a:r>
          </a:p>
          <a:p>
            <a:pPr>
              <a:spcAft>
                <a:spcPts val="1000"/>
              </a:spcAft>
            </a:pPr>
          </a:p>
          <a:p>
            <a:pPr>
              <a:defRPr sz="1300" b="1">
                <a:solidFill>
                  <a:srgbClr val="9C27B0"/>
                </a:solidFill>
              </a:defRPr>
            </a:pPr>
            <a:r>
              <a:t>DOMAIN AUTHORITY</a:t>
            </a:r>
          </a:p>
          <a:p>
            <a:pPr lvl="1">
              <a:defRPr sz="1100"/>
            </a:pPr>
            <a:r>
              <a:t>• Focus: Build topical authority through strategic content and link acquisition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206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Ready to transform your organic visibility into competitive advantage.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